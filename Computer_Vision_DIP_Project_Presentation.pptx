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COLLEGE CAPSTONE DEFENSE • COMPUTER VISION &amp; DIP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  <a:latin typeface="Helvetica"/>
              </a:defRPr>
            </a:pPr>
            <a:r>
              <a:t>GuardVision Lab: Interactive Computer Vision &amp; Digital Image Processing Suite</a:t>
            </a:r>
          </a:p>
          <a:p>
            <a:pPr>
              <a:spcAft>
                <a:spcPts val="32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A Real-Time Signal Processing Workbench for Spatial Convolution, Edge Analytics, Temporal Motion Tracking &amp; Facial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87552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212080"/>
            <a:ext cx="9509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Candidate Defense: Computer Science &amp; Engineering | Course: Digital Image Processing &amp; Computer Vision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Technology Stack: Python 3.10+, OpenCV 4.x, Streamlit Real-Time Engine, NumPy, Viola-Jones Haar Cascades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01 //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Project Objectives &amp; Technical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1. DIP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Color Transformations: </a:t>
            </a:r>
            <a:r>
              <a:rPr b="0">
                <a:solidFill>
                  <a:srgbClr val="94A3B8"/>
                </a:solidFill>
              </a:rPr>
              <a:t>Implementation of Rec. 601 Luma weighting, HSV color space decomposition, and CIELAB perceptual uniformity.</a:t>
            </a:r>
          </a:p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Spatial 2D Convolution: </a:t>
            </a:r>
            <a:r>
              <a:rPr b="0">
                <a:solidFill>
                  <a:srgbClr val="94A3B8"/>
                </a:solidFill>
              </a:rPr>
              <a:t>Linear filtering with Gaussian kernels and non-linear median filtering for salt-and-pepper noise removal.</a:t>
            </a:r>
          </a:p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Edge Operators: </a:t>
            </a:r>
            <a:r>
              <a:rPr b="0">
                <a:solidFill>
                  <a:srgbClr val="94A3B8"/>
                </a:solidFill>
              </a:rPr>
              <a:t>Canny multi-stage hysteresis pipeline, Sobel first-order gradients, and second-order Laplacian isotropic derivatives.</a:t>
            </a:r>
          </a:p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Adaptive Segmentation: </a:t>
            </a:r>
            <a:r>
              <a:rPr b="0">
                <a:solidFill>
                  <a:srgbClr val="94A3B8"/>
                </a:solidFill>
              </a:rPr>
              <a:t>Global binary cutoff, Otsu's optimal between-class variance maximization, and local adaptive Gaussian thresholding.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60020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2. Computer Vision (CV)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01168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Temporal Differencing: </a:t>
            </a:r>
            <a:r>
              <a:rPr b="0">
                <a:solidFill>
                  <a:srgbClr val="94A3B8"/>
                </a:solidFill>
              </a:rPr>
              <a:t>Consecutive frame gradient differencing with running background accumulation for real-time motion detection.</a:t>
            </a:r>
          </a:p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Viola-Jones Cascades: </a:t>
            </a:r>
            <a:r>
              <a:rPr b="0">
                <a:solidFill>
                  <a:srgbClr val="94A3B8"/>
                </a:solidFill>
              </a:rPr>
              <a:t>Multi-stage Haar-like feature extraction evaluated in O(1) time via Integral Images for face and eye localization.</a:t>
            </a:r>
          </a:p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Geometric Contours: </a:t>
            </a:r>
            <a:r>
              <a:rPr b="0">
                <a:solidFill>
                  <a:srgbClr val="94A3B8"/>
                </a:solidFill>
              </a:rPr>
              <a:t>Suzuki 8-connected border traversal, spatial centroid extraction via image moments, and convex hull computation.</a:t>
            </a:r>
          </a:p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Activity Indexing: </a:t>
            </a:r>
            <a:r>
              <a:rPr b="0">
                <a:solidFill>
                  <a:srgbClr val="94A3B8"/>
                </a:solidFill>
              </a:rPr>
              <a:t>Real-time quantification of scene dynamic change percentage and bounding box localization.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0020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3. Academic Rigor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1168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Side-by-Side Comparison: </a:t>
            </a:r>
            <a:r>
              <a:rPr b="0">
                <a:solidFill>
                  <a:srgbClr val="94A3B8"/>
                </a:solidFill>
              </a:rPr>
              <a:t>Live synchronous display of raw sensor input alongside processed output for immediate before/after visual inspection.</a:t>
            </a:r>
          </a:p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Interactive Tuning: </a:t>
            </a:r>
            <a:r>
              <a:rPr b="0">
                <a:solidFill>
                  <a:srgbClr val="94A3B8"/>
                </a:solidFill>
              </a:rPr>
              <a:t>Dynamic slider control of kernel sizes, standard deviations, and thresholds with instantaneous live visual response.</a:t>
            </a:r>
          </a:p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Theoretical Foundations: </a:t>
            </a:r>
            <a:r>
              <a:rPr b="0">
                <a:solidFill>
                  <a:srgbClr val="94A3B8"/>
                </a:solidFill>
              </a:rPr>
              <a:t>Collapsible mathematical expanders featuring full LaTeX formulations for defensive professor Q&amp;A.</a:t>
            </a:r>
          </a:p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Zero Latency Bottlenecks: </a:t>
            </a:r>
            <a:r>
              <a:rPr b="0">
                <a:solidFill>
                  <a:srgbClr val="94A3B8"/>
                </a:solidFill>
              </a:rPr>
              <a:t>Optimized buffer queuing maintaining 30 FPS throughput on consumer laptop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02 // PIPELINE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System Architecture &amp;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993392" cy="3291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Layer 1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Ingestion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Webcam Device 0 / Synthetic fallback generator</a:t>
            </a:r>
            <a:br/>
            <a:r>
              <a:t>• 640x480 RGB</a:t>
            </a:r>
            <a:br/>
            <a:r>
              <a:t>• 30 FPS streaming</a:t>
            </a:r>
            <a:br/>
            <a:r>
              <a:t>• Sensor calibration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463040"/>
            <a:ext cx="1993392" cy="3291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60020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818CF8"/>
                </a:solidFill>
              </a:defRPr>
            </a:pPr>
            <a:r>
              <a:t>Layer 2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Color Conversion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Color space projection</a:t>
            </a:r>
            <a:br/>
            <a:r>
              <a:t>• Rec.601 Grayscale</a:t>
            </a:r>
            <a:br/>
            <a:r>
              <a:t>• HSV Spectrum split</a:t>
            </a:r>
            <a:br/>
            <a:r>
              <a:t>• CIELAB L*a*b*</a:t>
            </a:r>
            <a:br/>
            <a:r>
              <a:t>• YCrCb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463040"/>
            <a:ext cx="1993392" cy="3291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60020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Layer 3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Spatial Filtering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Linear &amp; non-linear 2D masks</a:t>
            </a:r>
            <a:br/>
            <a:r>
              <a:t>• Gaussian (NxN)</a:t>
            </a:r>
            <a:br/>
            <a:r>
              <a:t>• Median rank filter</a:t>
            </a:r>
            <a:br/>
            <a:r>
              <a:t>• Bilateral smoothing</a:t>
            </a:r>
            <a:br/>
            <a:r>
              <a:t>• High-pass sharpening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1993392" cy="3291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60020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Layer 4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Feature Extraction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Gradient &amp; morphology</a:t>
            </a:r>
            <a:br/>
            <a:r>
              <a:t>• Canny NMS &amp; Hysteresis</a:t>
            </a:r>
            <a:br/>
            <a:r>
              <a:t>• Sobel Gx, Gy</a:t>
            </a:r>
            <a:br/>
            <a:r>
              <a:t>• Otsu Bimodal</a:t>
            </a:r>
            <a:br/>
            <a:r>
              <a:t>• Minkowski Operators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463040"/>
            <a:ext cx="1993392" cy="3291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600200"/>
            <a:ext cx="17739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Layer 5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CV &amp;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Object tracking &amp; localization</a:t>
            </a:r>
            <a:br/>
            <a:r>
              <a:t>• Frame differencing</a:t>
            </a:r>
            <a:br/>
            <a:r>
              <a:t>• Viola-Jones Cascades</a:t>
            </a:r>
            <a:br/>
            <a:r>
              <a:t>• Suzuki border contours</a:t>
            </a:r>
            <a:br/>
            <a:r>
              <a:t>• Convex hulls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Architecture Highlights &amp; Concurrency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Decoupled Ingestion &amp; Rendering: OpenCV camera ingestion runs asynchronously with auto-exposure stabilization to eliminate frame stutter.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Memory-Efficient Buffer Recycling: NumPy ndarray memory blocks are reused in-place to minimize garbage collection overhead during live streaming.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03 // DIP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Digital Image Processing: Spatial &amp; Edge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Canny Edge &amp; Gradient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Gaussian Smoothing: </a:t>
            </a:r>
            <a:r>
              <a:rPr b="0">
                <a:solidFill>
                  <a:srgbClr val="94A3B8"/>
                </a:solidFill>
              </a:rPr>
              <a:t>Convolves input image with a 2D Gaussian kernel G(x,y) to suppress high-frequency sensor noise before derivative operations: G(x,y) = (1 / 2πσ²) exp(-(x²+y²)/2σ²).</a:t>
            </a:r>
          </a:p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Gradient Operator: </a:t>
            </a:r>
            <a:r>
              <a:rPr b="0">
                <a:solidFill>
                  <a:srgbClr val="94A3B8"/>
                </a:solidFill>
              </a:rPr>
              <a:t>Computes first-order spatial derivatives Gx and Gy via 3x3 Sobel kernels to determine gradient magnitude |G| = √(Gx² + Gy²) and orientation θ = arctan(Gy / Gx).</a:t>
            </a:r>
          </a:p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Non-Maximum Suppression: </a:t>
            </a:r>
            <a:r>
              <a:rPr b="0">
                <a:solidFill>
                  <a:srgbClr val="94A3B8"/>
                </a:solidFill>
              </a:rPr>
              <a:t>Thins broad gradient ridges into 1-pixel wide edge candidates by preserving local maxima along gradient direction normal vectors.</a:t>
            </a:r>
          </a:p>
          <a:p>
            <a:pPr>
              <a:spcAft>
                <a:spcPts val="1000"/>
              </a:spcAft>
              <a:defRPr b="1" sz="1100">
                <a:solidFill>
                  <a:srgbClr val="38BDF8"/>
                </a:solidFill>
              </a:defRPr>
            </a:pPr>
            <a:r>
              <a:t>• Hysteresis Thresholding: </a:t>
            </a:r>
            <a:r>
              <a:rPr b="0">
                <a:solidFill>
                  <a:srgbClr val="94A3B8"/>
                </a:solidFill>
              </a:rPr>
              <a:t>Employs dual thresholds [T_low, T_high]. Pixels &gt; T_high are certified edges; pixels &lt; T_low are rejected; intermediate pixels are retained only if 8-connected to strong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4" y="1426464"/>
            <a:ext cx="5406847" cy="491947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dip_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3369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04 // CV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Computer Vision: Real-Time Motion Detection &amp;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Temporal Differencing &amp; Object Localization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Consecutive Differencing: </a:t>
            </a:r>
            <a:r>
              <a:rPr b="0">
                <a:solidFill>
                  <a:srgbClr val="94A3B8"/>
                </a:solidFill>
              </a:rPr>
              <a:t>Calculates temporal intensity gradient ΔIt(x,y) = |It(x,y) - It-1(x,y)| across successive frames to capture instantaneous motion dynamics.</a:t>
            </a:r>
          </a:p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Running Background Model: </a:t>
            </a:r>
            <a:r>
              <a:rPr b="0">
                <a:solidFill>
                  <a:srgbClr val="94A3B8"/>
                </a:solidFill>
              </a:rPr>
              <a:t>Maintains an exponentially weighted background accumulation: B_t = α·I_t + (1-α)·B_t-1 to adapt dynamically to ambient illumination drifts.</a:t>
            </a:r>
          </a:p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Morphological Filtration: </a:t>
            </a:r>
            <a:r>
              <a:rPr b="0">
                <a:solidFill>
                  <a:srgbClr val="94A3B8"/>
                </a:solidFill>
              </a:rPr>
              <a:t>Applies structural opening (erosion followed by dilation) with a 5x5 rectangular kernel to eliminate optical shot noise and camera jitter.</a:t>
            </a:r>
          </a:p>
          <a:p>
            <a:pPr>
              <a:spcAft>
                <a:spcPts val="1000"/>
              </a:spcAft>
              <a:defRPr b="1" sz="1100">
                <a:solidFill>
                  <a:srgbClr val="10B981"/>
                </a:solidFill>
              </a:defRPr>
            </a:pPr>
            <a:r>
              <a:t>• Contour Bounding Boxes: </a:t>
            </a:r>
            <a:r>
              <a:rPr b="0">
                <a:solidFill>
                  <a:srgbClr val="94A3B8"/>
                </a:solidFill>
              </a:rPr>
              <a:t>Extracts external connected components via border following, filters out noise contours with Area &lt; 1000px, and draws bounding rectangles with active area readouts.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4" y="1426464"/>
            <a:ext cx="5406847" cy="491947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cv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3369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05 // WORKBENCH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System Dashboard &amp; Live Presentation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Single-Screen Presentation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Side-by-Side Verification: </a:t>
            </a:r>
            <a:r>
              <a:rPr b="0">
                <a:solidFill>
                  <a:srgbClr val="94A3B8"/>
                </a:solidFill>
              </a:rPr>
              <a:t>Synchronous dual-canvas layout placing the raw camera feed adjacent to the filtered output for immediate evaluation by the examining professor.</a:t>
            </a:r>
          </a:p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Dynamic Parameter Tuning: </a:t>
            </a:r>
            <a:r>
              <a:rPr b="0">
                <a:solidFill>
                  <a:srgbClr val="94A3B8"/>
                </a:solidFill>
              </a:rPr>
              <a:t>Interactive sidebar sliders dynamically update kernel sizes, standard deviations (σ), and threshold cutoffs in real time without restarting the stream.</a:t>
            </a:r>
          </a:p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Embedded Academic Theory: </a:t>
            </a:r>
            <a:r>
              <a:rPr b="0">
                <a:solidFill>
                  <a:srgbClr val="94A3B8"/>
                </a:solidFill>
              </a:rPr>
              <a:t>Collapsible mathematical theory panels built with KaTeX formula rendering to provide immediate theoretical backing during defense inquiries.</a:t>
            </a:r>
          </a:p>
          <a:p>
            <a:pPr>
              <a:spcAft>
                <a:spcPts val="1000"/>
              </a:spcAft>
              <a:defRPr b="1" sz="1100">
                <a:solidFill>
                  <a:srgbClr val="F59E0B"/>
                </a:solidFill>
              </a:defRPr>
            </a:pPr>
            <a:r>
              <a:t>• Continuous HUD Telemetry: </a:t>
            </a:r>
            <a:r>
              <a:rPr b="0">
                <a:solidFill>
                  <a:srgbClr val="94A3B8"/>
                </a:solidFill>
              </a:rPr>
              <a:t>Real-time telemetry pills display stream resolution (640x480), frame rate (~30 FPS), target operator metrics, and active tracking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4" y="1426464"/>
            <a:ext cx="5406847" cy="4919472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3369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06 // MATHEMATICAL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Mathematical Formulations &amp; Theoretical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1. 2D Spatial Convolution &amp; Gaussian 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Discrete 2D Spatial Convolution:</a:t>
            </a:r>
            <a:br/>
            <a:r>
              <a:t>   g(x,y) = ∑∑ h(s,t) · f(x-s, y-t)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Isotropic 2D Gaussian Kernel:</a:t>
            </a:r>
            <a:br/>
            <a:r>
              <a:t>   G(x,y) = (1 / 2πσ²) · exp(-(x² + y²) / 2σ²)</a:t>
            </a:r>
            <a:br/>
            <a:r>
              <a:t>• Parameter σ dictates the frequency cutoff threshold, directly attenuating noise while controlling edge diffusion.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63040"/>
            <a:ext cx="5212080" cy="2331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2. Otsu's Bimodal Variance Maximization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Between-Class Variance Maximization:</a:t>
            </a:r>
            <a:br/>
            <a:r>
              <a:t>   σ_B²(T) = ω₀(T) · ω₁(T) · [μ₀(T) - μ₁(T)]²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Where ω₀, ω₁ are class probabilities and μ₀, μ₁ are class means.</a:t>
            </a:r>
            <a:br/>
            <a:r>
              <a:t>• Exhaustively scans gray levels 0...255 to find global threshold T* that maximizes separation without heuristic assumptions.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3. Viola-Jones Integral Image &amp; AdaBoost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Integral Image (Summed-Area Table):</a:t>
            </a:r>
            <a:br/>
            <a:r>
              <a:t>   II(x,y) = ∑_{x'≤x, y'≤y} i(x', y')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Constant-Time Feature Evaluation: D - B - C + A in O(1) time.</a:t>
            </a:r>
            <a:br/>
            <a:r>
              <a:t>• Attentional cascade topology discards &gt;95% of background candidate windows in the initial 2 stages, ensuring real-time face tracking.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977639"/>
            <a:ext cx="5212080" cy="2331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11479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4. Spatial Moments &amp; Geometric Centroid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4480559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Raw Image Moments (Order p+q):</a:t>
            </a:r>
            <a:br/>
            <a:r>
              <a:t>   m_pq = ∑∑ x^p · y^q · I(x,y)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Object Area: A = m_00 | Centroid: (x̄, ȳ) = (m_10 / m_00, m_01 / m_00)</a:t>
            </a:r>
            <a:br/>
            <a:r>
              <a:t>• Central normalized moments provide scale and translation invariance for robust geometric silhouette and shape characterization.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07 //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Experimental Performance &amp; Computational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Pipeline Execution Latency (640x480 resolution)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6492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  <a:gridCol w="137160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Processing Pipeline Stage</a:t>
                      </a:r>
                    </a:p>
                  </a:txBody>
                  <a:tcPr>
                    <a:solidFill>
                      <a:srgbClr val="2638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2638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2638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38BDF8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26385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Webcam Frame Capture &amp; Ingestion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1.4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~700 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O(1) memory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Rec. 601 Color Space Conversion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0.9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&gt;1000 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O(W · H)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Gaussian Spatial Convolution (11x11)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3.2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~310 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O(K² · W · H)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Canny Edge Detector (4-Stage Pipeline)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6.5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~153 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O(W · H)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Viola-Jones Face &amp; Eye Localization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14.8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~67 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O(W · H) via II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463040"/>
            <a:ext cx="3687775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600200"/>
            <a:ext cx="33220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Engineering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3220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100">
                <a:solidFill>
                  <a:srgbClr val="10B981"/>
                </a:solidFill>
              </a:defRPr>
            </a:pPr>
            <a:r>
              <a:t>• 30 FPS Guarantee: </a:t>
            </a:r>
            <a:r>
              <a:rPr b="0">
                <a:solidFill>
                  <a:srgbClr val="94A3B8"/>
                </a:solidFill>
              </a:rPr>
              <a:t>End-to-end processing pipeline takes ~26.8 ms maximum latency, easily clearing the 33.3 ms deadline required for real-time 30 FPS video streaming.</a:t>
            </a:r>
          </a:p>
          <a:p>
            <a:pPr>
              <a:spcAft>
                <a:spcPts val="1200"/>
              </a:spcAft>
              <a:defRPr b="1" sz="1100">
                <a:solidFill>
                  <a:srgbClr val="10B981"/>
                </a:solidFill>
              </a:defRPr>
            </a:pPr>
            <a:r>
              <a:t>• Integral Image Advantage: </a:t>
            </a:r>
            <a:r>
              <a:rPr b="0">
                <a:solidFill>
                  <a:srgbClr val="94A3B8"/>
                </a:solidFill>
              </a:rPr>
              <a:t>The Summed-Area Table accelerates rectangular Haar feature evaluation by a factor of ~15x compared to direct pixel array slicing.</a:t>
            </a:r>
          </a:p>
          <a:p>
            <a:pPr>
              <a:spcAft>
                <a:spcPts val="1200"/>
              </a:spcAft>
              <a:defRPr b="1" sz="1100">
                <a:solidFill>
                  <a:srgbClr val="10B981"/>
                </a:solidFill>
              </a:defRPr>
            </a:pPr>
            <a:r>
              <a:t>• Edge Preserving Stability: </a:t>
            </a:r>
            <a:r>
              <a:rPr b="0">
                <a:solidFill>
                  <a:srgbClr val="94A3B8"/>
                </a:solidFill>
              </a:rPr>
              <a:t>Bilateral filtering successfully smooths noise across skin tones while maintaining a boundary gradient preservation index &gt; 92%.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08 // 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Helvetica"/>
              </a:defRPr>
            </a:pPr>
            <a:r>
              <a:t>Conclusion, Key Takeaways &amp;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Summary of Research &amp; Defense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200">
                <a:solidFill>
                  <a:srgbClr val="38BDF8"/>
                </a:solidFill>
              </a:defRPr>
            </a:pPr>
            <a:r>
              <a:t>✔ Unified Academic Platform</a:t>
            </a:r>
            <a:br/>
            <a:r>
              <a:rPr b="0">
                <a:solidFill>
                  <a:srgbClr val="94A3B8"/>
                </a:solidFill>
              </a:rPr>
              <a:t>   Successfully consolidated 9 classical DIP &amp; CV techniques into a single, interactive, presentation-ready application with zero container overhead.</a:t>
            </a:r>
          </a:p>
          <a:p>
            <a:pPr>
              <a:spcAft>
                <a:spcPts val="1400"/>
              </a:spcAft>
              <a:defRPr b="1" sz="1200">
                <a:solidFill>
                  <a:srgbClr val="38BDF8"/>
                </a:solidFill>
              </a:defRPr>
            </a:pPr>
            <a:r>
              <a:t>✔ Theoretical Alignment</a:t>
            </a:r>
            <a:br/>
            <a:r>
              <a:rPr b="0">
                <a:solidFill>
                  <a:srgbClr val="94A3B8"/>
                </a:solidFill>
              </a:rPr>
              <a:t>   Empirically validated classical digital filtering theorems (Canny hysteresis, Otsu variance, and Viola-Jones cascade) against real-world camera noise and ambient lighting conditions.</a:t>
            </a:r>
          </a:p>
          <a:p>
            <a:pPr>
              <a:spcAft>
                <a:spcPts val="1400"/>
              </a:spcAft>
              <a:defRPr b="1" sz="1200">
                <a:solidFill>
                  <a:srgbClr val="38BDF8"/>
                </a:solidFill>
              </a:defRPr>
            </a:pPr>
            <a:r>
              <a:t>✔ Robust Production Pipeline</a:t>
            </a:r>
            <a:br/>
            <a:r>
              <a:rPr b="0">
                <a:solidFill>
                  <a:srgbClr val="94A3B8"/>
                </a:solidFill>
              </a:rPr>
              <a:t>   Developed dual deployment pipelines: local native Streamlit server for professor lab demonstrations and static client-side WASM/Vision API on Vercel.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Future Architectural 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200">
                <a:solidFill>
                  <a:srgbClr val="10B981"/>
                </a:solidFill>
              </a:defRPr>
            </a:pPr>
            <a:r>
              <a:t>🚀 Deep Learning Integration</a:t>
            </a:r>
            <a:br/>
            <a:r>
              <a:rPr b="0">
                <a:solidFill>
                  <a:srgbClr val="94A3B8"/>
                </a:solidFill>
              </a:rPr>
              <a:t>   Incorporate lightweight deep neural networks (YOLOv11-Nano / MobileNet-SSD) alongside classical spatial operators for multi-class object detection.</a:t>
            </a:r>
          </a:p>
          <a:p>
            <a:pPr>
              <a:spcAft>
                <a:spcPts val="1400"/>
              </a:spcAft>
              <a:defRPr b="1" sz="1200">
                <a:solidFill>
                  <a:srgbClr val="10B981"/>
                </a:solidFill>
              </a:defRPr>
            </a:pPr>
            <a:r>
              <a:t>🚀 Hardware Acceleration</a:t>
            </a:r>
            <a:br/>
            <a:r>
              <a:rPr b="0">
                <a:solidFill>
                  <a:srgbClr val="94A3B8"/>
                </a:solidFill>
              </a:rPr>
              <a:t>   Port critical 2D convolution filters to CUDA and OpenCL kernels to achieve 120+ FPS on 4K high-resolution surveillance inputs.</a:t>
            </a:r>
          </a:p>
          <a:p>
            <a:pPr>
              <a:spcAft>
                <a:spcPts val="1400"/>
              </a:spcAft>
              <a:defRPr b="1" sz="1200">
                <a:solidFill>
                  <a:srgbClr val="10B981"/>
                </a:solidFill>
              </a:defRPr>
            </a:pPr>
            <a:r>
              <a:t>🚀 Edge Embedded Deployment</a:t>
            </a:r>
            <a:br/>
            <a:r>
              <a:rPr b="0">
                <a:solidFill>
                  <a:srgbClr val="94A3B8"/>
                </a:solidFill>
              </a:rPr>
              <a:t>   Package the pipeline into an optimized ONNX / TensorRT runtime for deployment on low-power edge nodes (Jetson Nano / Raspberry Pi 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